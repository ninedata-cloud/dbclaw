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79efe853864767" /><Relationship Type="http://schemas.openxmlformats.org/officeDocument/2006/relationships/extended-properties" Target="/docProps/app.xml" Id="R2eeb25e13c2d4d89" /><Relationship Type="http://schemas.openxmlformats.org/officeDocument/2006/relationships/officeDocument" Target="/ppt/presentation.xml" Id="Rfd0b585eef134c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222800d3934177"/>
  </p:sldMasterIdLst>
  <p:notesMasterIdLst>
    <p:notesMasterId xmlns:r="http://schemas.openxmlformats.org/officeDocument/2006/relationships" r:id="R6f42cb33fe32445d"/>
  </p:notesMasterIdLst>
  <p:sldIdLst>
    <p:sldId xmlns:r="http://schemas.openxmlformats.org/officeDocument/2006/relationships" id="256" r:id="R930e7a7a037e437c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97e9927f454170" /><Relationship Type="http://schemas.openxmlformats.org/officeDocument/2006/relationships/slideMaster" Target="/ppt/slideMasters/slideMaster1.xml" Id="R14222800d3934177" /><Relationship Type="http://schemas.openxmlformats.org/officeDocument/2006/relationships/notesMaster" Target="/ppt/notesMasters/notesMaster1.xml" Id="R6f42cb33fe32445d" /><Relationship Type="http://schemas.openxmlformats.org/officeDocument/2006/relationships/presProps" Target="/ppt/presProps.xml" Id="R2e6f00b4f09441ea" /><Relationship Type="http://schemas.openxmlformats.org/officeDocument/2006/relationships/tableStyles" Target="/ppt/tableStyles.xml" Id="Ra23dabd15d5445e0" /><Relationship Type="http://schemas.openxmlformats.org/officeDocument/2006/relationships/slide" Target="/ppt/slides/slide1.xml" Id="R930e7a7a037e43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4226952f1d48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c8b3e05151455e" /><Relationship Type="http://schemas.openxmlformats.org/officeDocument/2006/relationships/notesMaster" Target="/ppt/notesMasters/notesMaster1.xml" Id="R5fb9866e216842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DBClaw 面向 DBA、SRE 和研发团队，提供多数据库的监控、AI 诊断、自动巡检、告警与知识增强。该图按功能依赖关系分层，内部箭头表示 Agent 的诊断流程。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监控持续采集数据库和关联主机指标。巡检支持定时及事件触发。告警覆盖阈值与 AI 判警、事件去重、自动恢复和通知。AI Agent 结合实例指标、历史记录、知识文档及可扩展 YAML 技能执行诊断并输出证据与建议。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模型层支持 OpenAI 与 Anthropic 兼容协议。未配置模型时，基础监控等非 AI 能力仍可运行。PostgreSQL 保存元数据与监控历史，TimescaleDB 为可选时序扩展。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本地项目当前文档和源码核对。参考：/Users/william/prog/dbclaw/README_CN.md，/Users/william/prog/dbclaw/README.md，/Users/william/prog/dbclaw/docs/产品操作介绍文档.md，/Users/william/prog/dbclaw/backend/services/ai_agent.py，/Users/william/prog/dbclaw/backend/skills/executor.py，/Users/william/prog/dbclaw/backend/services/db_connector.p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数据库清单以当前 README 与连接器实现为准。云监控接入为阿里云、腾讯云、华为云。机器人对话和通知渠道分别表达，不将企业微信通知等同于对话机器人。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3201a856ed432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399a6202d2452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61477d2e134a9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148cee450144f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0189c8fed845e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bbb2870d5e44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EEA78F-F901-4BEF-AD30-7C383066C3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C9B0A59-4A1A-41FD-91CD-EB491948B31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022BF7A-A14A-4DA7-AAC7-6F3EB8C753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0A739A-FE13-44C1-9EE7-BC38EF5384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96D55F8-8F17-4E78-9884-3580E7E5C7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487F9D3-77E9-43B0-972C-A5C136B8A3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4FEA67C-9C11-4042-955A-0F86C5D129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EC18FD2-9F56-42CD-BFF2-E3D3D688FD8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5737DF-36D6-4AD8-9D41-DCDC036D31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8841AC2-2ED1-495E-B73E-EDBAD73792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66ee7b09fc4969" /><Relationship Type="http://schemas.openxmlformats.org/officeDocument/2006/relationships/slideLayout" Target="/ppt/slideLayouts/slideLayout1.xml" Id="R1513a394f1074ac7" /><Relationship Type="http://schemas.openxmlformats.org/officeDocument/2006/relationships/slideLayout" Target="/ppt/slideLayouts/slideLayout2.xml" Id="Rd5b7ab59f6e24d41" /><Relationship Type="http://schemas.openxmlformats.org/officeDocument/2006/relationships/slideLayout" Target="/ppt/slideLayouts/slideLayout3.xml" Id="R5c3cf96c21f64e6f" /><Relationship Type="http://schemas.openxmlformats.org/officeDocument/2006/relationships/slideLayout" Target="/ppt/slideLayouts/slideLayout4.xml" Id="Ra048afc848ff4eef" /><Relationship Type="http://schemas.openxmlformats.org/officeDocument/2006/relationships/slideLayout" Target="/ppt/slideLayouts/slideLayout5.xml" Id="R8c2a9865b0694be9" /><Relationship Type="http://schemas.openxmlformats.org/officeDocument/2006/relationships/slideLayout" Target="/ppt/slideLayouts/slideLayout6.xml" Id="R0e78aa98048341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13a394f1074ac7"/>
    <p:sldLayoutId xmlns:r="http://schemas.openxmlformats.org/officeDocument/2006/relationships" id="2147483650" r:id="Rd5b7ab59f6e24d41"/>
    <p:sldLayoutId xmlns:r="http://schemas.openxmlformats.org/officeDocument/2006/relationships" id="2147483651" r:id="R5c3cf96c21f64e6f"/>
    <p:sldLayoutId xmlns:r="http://schemas.openxmlformats.org/officeDocument/2006/relationships" id="2147483652" r:id="Ra048afc848ff4eef"/>
    <p:sldLayoutId xmlns:r="http://schemas.openxmlformats.org/officeDocument/2006/relationships" id="2147483653" r:id="R8c2a9865b0694be9"/>
    <p:sldLayoutId xmlns:r="http://schemas.openxmlformats.org/officeDocument/2006/relationships" id="2147483654" r:id="R0e78aa98048341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ebff0299284209" /><Relationship Type="http://schemas.openxmlformats.org/officeDocument/2006/relationships/notesSlide" Target="/ppt/notesSlides/notesSlide1.xml" Id="Rf64a219eb79540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7557AB1-4C67-4923-A8F2-6359DC1395F5}"/>
              </a:ext>
            </a:extLst>
          </p:cNvPr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10810875" y="46958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C4D3"/>
            </a:solidFill>
            <a:tailEnd type="triangle" w="sm" len="sm"/>
          </a:ln>
        </p:spPr>
      </p:cxnSp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B449BDC-B93A-4FB7-8B27-41F7DB5CF7B1}"/>
              </a:ext>
            </a:extLst>
          </p:cNvPr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7953375" y="46958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C4D3"/>
            </a:solidFill>
            <a:tailEnd type="triangle" w="sm" len="sm"/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844018-FC8A-41C8-823F-055D9516874D}"/>
              </a:ext>
            </a:extLst>
          </p:cNvPr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5095875" y="46958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C4D3"/>
            </a:solidFill>
            <a:tailEnd type="triangle" w="sm" len="sm"/>
          </a:ln>
        </p:spPr>
      </p:cxnSp>
      <p:sp>
        <p:nvSpPr>
          <p:cNvPr id="75" name="标题">
            <a:extLst xmlns:a="http://schemas.openxmlformats.org/drawingml/2006/main">
              <a:ext uri="{FF2B5EF4-FFF2-40B4-BE49-F238E27FC236}">
                <a16:creationId xmlns:a16="http://schemas.microsoft.com/office/drawing/2014/main" id="{33DE97D5-F01A-41E4-A356-20B4C853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05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405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405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405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405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405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405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405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405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405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rPr>
              <a:t>DBClaw 功能架构</a:t>
            </a:r>
          </a:p>
        </p:txBody>
      </p:sp>
      <p:sp>
        <p:nvSpPr>
          <p:cNvPr id="2" name="副标题">
            <a:extLst xmlns:a="http://schemas.openxmlformats.org/drawingml/2006/main">
              <a:ext uri="{FF2B5EF4-FFF2-40B4-BE49-F238E27FC236}">
                <a16:creationId xmlns:a16="http://schemas.microsoft.com/office/drawing/2014/main" id="{9575A30A-8865-48F2-BA45-03835DC0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390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rPr>
              <a:t>AI 原生数据库智能卫士，统一监控、诊断、巡检与告警</a:t>
            </a:r>
          </a:p>
        </p:txBody>
      </p:sp>
      <p:sp>
        <p:nvSpPr>
          <p:cNvPr id="3" name="访问与协作层">
            <a:extLst xmlns:a="http://schemas.openxmlformats.org/drawingml/2006/main">
              <a:ext uri="{FF2B5EF4-FFF2-40B4-BE49-F238E27FC236}">
                <a16:creationId xmlns:a16="http://schemas.microsoft.com/office/drawing/2014/main" id="{26059F58-BC39-4A91-959D-57ABF815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85925"/>
            <a:ext cx="14135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访问与协作标签">
            <a:extLst xmlns:a="http://schemas.openxmlformats.org/drawingml/2006/main">
              <a:ext uri="{FF2B5EF4-FFF2-40B4-BE49-F238E27FC236}">
                <a16:creationId xmlns:a16="http://schemas.microsoft.com/office/drawing/2014/main" id="{F5D43C17-4F46-4511-B5F5-ECA042F3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76425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rPr>
              <a:t>访问与协作</a:t>
            </a:r>
          </a:p>
        </p:txBody>
      </p:sp>
      <p:sp>
        <p:nvSpPr>
          <p:cNvPr id="5" name="访问与协作说明">
            <a:extLst xmlns:a="http://schemas.openxmlformats.org/drawingml/2006/main">
              <a:ext uri="{FF2B5EF4-FFF2-40B4-BE49-F238E27FC236}">
                <a16:creationId xmlns:a16="http://schemas.microsoft.com/office/drawing/2014/main" id="{B028C71E-CAA1-4BA2-B3F9-E0B5D6F6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rPr>
              <a:t>面向 DBA / SRE</a:t>
            </a:r>
          </a:p>
        </p:txBody>
      </p:sp>
      <p:sp>
        <p:nvSpPr>
          <p:cNvPr id="6" name="访问与协作分隔">
            <a:extLst xmlns:a="http://schemas.openxmlformats.org/drawingml/2006/main">
              <a:ext uri="{FF2B5EF4-FFF2-40B4-BE49-F238E27FC236}">
                <a16:creationId xmlns:a16="http://schemas.microsoft.com/office/drawing/2014/main" id="{472337C4-45C0-4641-BDB9-09B8E627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76425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7E2ED"/>
            </a:solidFill>
            <a:prstDash val="solid"/>
          </a:ln>
        </p:spPr>
      </p:sp>
      <p:sp>
        <p:nvSpPr>
          <p:cNvPr id="7" name="控制台入口">
            <a:extLst xmlns:a="http://schemas.openxmlformats.org/drawingml/2006/main">
              <a:ext uri="{FF2B5EF4-FFF2-40B4-BE49-F238E27FC236}">
                <a16:creationId xmlns:a16="http://schemas.microsoft.com/office/drawing/2014/main" id="{91EFB0D5-ED7B-4B0C-9B1B-E6C7F163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2714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0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0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0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0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0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0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0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0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0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rPr>
              <a:t>Web 控制台</a:t>
            </a:r>
          </a:p>
        </p:txBody>
      </p:sp>
      <p:sp>
        <p:nvSpPr>
          <p:cNvPr id="8" name="控制台入口说明">
            <a:extLst xmlns:a="http://schemas.openxmlformats.org/drawingml/2006/main">
              <a:ext uri="{FF2B5EF4-FFF2-40B4-BE49-F238E27FC236}">
                <a16:creationId xmlns:a16="http://schemas.microsoft.com/office/drawing/2014/main" id="{2EA40A7A-CF4A-48CD-A5FF-E8944977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rPr>
              <a:t>资源总览与实例工作台</a:t>
            </a:r>
          </a:p>
        </p:txBody>
      </p:sp>
      <p:sp>
        <p:nvSpPr>
          <p:cNvPr id="9" name="机器人入口">
            <a:extLst xmlns:a="http://schemas.openxmlformats.org/drawingml/2006/main">
              <a:ext uri="{FF2B5EF4-FFF2-40B4-BE49-F238E27FC236}">
                <a16:creationId xmlns:a16="http://schemas.microsoft.com/office/drawing/2014/main" id="{68468D31-08A2-46C1-A69C-CE07DCA2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0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0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0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0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0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0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0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0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0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rPr>
              <a:t>机器人对话</a:t>
            </a:r>
          </a:p>
        </p:txBody>
      </p:sp>
      <p:sp>
        <p:nvSpPr>
          <p:cNvPr id="10" name="机器人入口说明">
            <a:extLst xmlns:a="http://schemas.openxmlformats.org/drawingml/2006/main">
              <a:ext uri="{FF2B5EF4-FFF2-40B4-BE49-F238E27FC236}">
                <a16:creationId xmlns:a16="http://schemas.microsoft.com/office/drawing/2014/main" id="{78C7F48E-8506-4C55-B28E-D37850DE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rPr>
              <a:t>飞书、钉钉、微信</a:t>
            </a:r>
          </a:p>
        </p:txBody>
      </p:sp>
      <p:sp>
        <p:nvSpPr>
          <p:cNvPr id="11" name="通知出口">
            <a:extLst xmlns:a="http://schemas.openxmlformats.org/drawingml/2006/main">
              <a:ext uri="{FF2B5EF4-FFF2-40B4-BE49-F238E27FC236}">
                <a16:creationId xmlns:a16="http://schemas.microsoft.com/office/drawing/2014/main" id="{2428BDE4-62A2-45F4-B165-FDBC3A0F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80975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0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0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0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0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0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0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0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0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0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rPr>
              <a:t>通知分发</a:t>
            </a:r>
          </a:p>
        </p:txBody>
      </p:sp>
      <p:sp>
        <p:nvSpPr>
          <p:cNvPr id="12" name="通知出口说明">
            <a:extLst xmlns:a="http://schemas.openxmlformats.org/drawingml/2006/main">
              <a:ext uri="{FF2B5EF4-FFF2-40B4-BE49-F238E27FC236}">
                <a16:creationId xmlns:a16="http://schemas.microsoft.com/office/drawing/2014/main" id="{365EA1DD-5C07-4929-B3FB-93766B6B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190750"/>
            <a:ext cx="381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rPr>
              <a:t>Webhook、邮件、企业 IM</a:t>
            </a:r>
          </a:p>
        </p:txBody>
      </p:sp>
      <p:sp>
        <p:nvSpPr>
          <p:cNvPr id="13" name="运维功能层">
            <a:extLst xmlns:a="http://schemas.openxmlformats.org/drawingml/2006/main">
              <a:ext uri="{FF2B5EF4-FFF2-40B4-BE49-F238E27FC236}">
                <a16:creationId xmlns:a16="http://schemas.microsoft.com/office/drawing/2014/main" id="{239B3623-5454-4046-966F-9083F796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9875"/>
            <a:ext cx="141351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运维功能标签">
            <a:extLst xmlns:a="http://schemas.openxmlformats.org/drawingml/2006/main">
              <a:ext uri="{FF2B5EF4-FFF2-40B4-BE49-F238E27FC236}">
                <a16:creationId xmlns:a16="http://schemas.microsoft.com/office/drawing/2014/main" id="{A642E5F1-A4DC-4EC9-A9DB-0D7BA2F2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0375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rPr>
              <a:t>运维功能</a:t>
            </a:r>
          </a:p>
        </p:txBody>
      </p:sp>
      <p:sp>
        <p:nvSpPr>
          <p:cNvPr id="15" name="运维功能说明">
            <a:extLst xmlns:a="http://schemas.openxmlformats.org/drawingml/2006/main">
              <a:ext uri="{FF2B5EF4-FFF2-40B4-BE49-F238E27FC236}">
                <a16:creationId xmlns:a16="http://schemas.microsoft.com/office/drawing/2014/main" id="{044E7035-694D-4D7E-8DBF-090CBCE0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62325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rPr>
              <a:t>日常运维与排障</a:t>
            </a:r>
          </a:p>
        </p:txBody>
      </p:sp>
      <p:sp>
        <p:nvSpPr>
          <p:cNvPr id="16" name="运维功能分隔">
            <a:extLst xmlns:a="http://schemas.openxmlformats.org/drawingml/2006/main">
              <a:ext uri="{FF2B5EF4-FFF2-40B4-BE49-F238E27FC236}">
                <a16:creationId xmlns:a16="http://schemas.microsoft.com/office/drawing/2014/main" id="{E322F5B3-BDB4-4436-97CB-9E2ED445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00375"/>
            <a:ext cx="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7E2ED"/>
            </a:solidFill>
            <a:prstDash val="solid"/>
          </a:ln>
        </p:spPr>
      </p:sp>
      <p:sp>
        <p:nvSpPr>
          <p:cNvPr id="17" name="功能0">
            <a:extLst xmlns:a="http://schemas.openxmlformats.org/drawingml/2006/main">
              <a:ext uri="{FF2B5EF4-FFF2-40B4-BE49-F238E27FC236}">
                <a16:creationId xmlns:a16="http://schemas.microsoft.com/office/drawing/2014/main" id="{1936AD02-D920-471F-A2BC-DD6068D2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43225"/>
            <a:ext cx="2200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rPr>
              <a:t>监控看板</a:t>
            </a:r>
          </a:p>
        </p:txBody>
      </p:sp>
      <p:sp>
        <p:nvSpPr>
          <p:cNvPr id="18" name="功能描述0">
            <a:extLst xmlns:a="http://schemas.openxmlformats.org/drawingml/2006/main">
              <a:ext uri="{FF2B5EF4-FFF2-40B4-BE49-F238E27FC236}">
                <a16:creationId xmlns:a16="http://schemas.microsoft.com/office/drawing/2014/main" id="{CCAC328D-301D-42C1-B1FE-A524EF7B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71850"/>
            <a:ext cx="2200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rPr>
              <a:t>数据库与主机指标</a:t>
            </a:r>
          </a:p>
        </p:txBody>
      </p:sp>
      <p:sp>
        <p:nvSpPr>
          <p:cNvPr id="19" name="功能结果0">
            <a:extLst xmlns:a="http://schemas.openxmlformats.org/drawingml/2006/main">
              <a:ext uri="{FF2B5EF4-FFF2-40B4-BE49-F238E27FC236}">
                <a16:creationId xmlns:a16="http://schemas.microsoft.com/office/drawing/2014/main" id="{A6618E6B-D050-4092-8379-BB6BD4B6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95700"/>
            <a:ext cx="2200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rPr>
              <a:t>实时状态与历史趋势</a:t>
            </a:r>
          </a:p>
        </p:txBody>
      </p:sp>
      <p:sp>
        <p:nvSpPr>
          <p:cNvPr id="20" name="功能分隔0">
            <a:extLst xmlns:a="http://schemas.openxmlformats.org/drawingml/2006/main">
              <a:ext uri="{FF2B5EF4-FFF2-40B4-BE49-F238E27FC236}">
                <a16:creationId xmlns:a16="http://schemas.microsoft.com/office/drawing/2014/main" id="{7D0AC31D-6DDA-49C7-B3D7-734DE2A2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67050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7E2ED"/>
            </a:solidFill>
            <a:prstDash val="solid"/>
          </a:ln>
        </p:spPr>
      </p:sp>
      <p:sp>
        <p:nvSpPr>
          <p:cNvPr id="21" name="功能1">
            <a:extLst xmlns:a="http://schemas.openxmlformats.org/drawingml/2006/main">
              <a:ext uri="{FF2B5EF4-FFF2-40B4-BE49-F238E27FC236}">
                <a16:creationId xmlns:a16="http://schemas.microsoft.com/office/drawing/2014/main" id="{EFE071F0-5D78-4417-98D0-C05B93E0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943225"/>
            <a:ext cx="2200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rPr>
              <a:t>AI 智能诊断</a:t>
            </a:r>
          </a:p>
        </p:txBody>
      </p:sp>
      <p:sp>
        <p:nvSpPr>
          <p:cNvPr id="22" name="功能描述1">
            <a:extLst xmlns:a="http://schemas.openxmlformats.org/drawingml/2006/main">
              <a:ext uri="{FF2B5EF4-FFF2-40B4-BE49-F238E27FC236}">
                <a16:creationId xmlns:a16="http://schemas.microsoft.com/office/drawing/2014/main" id="{3ABB6928-DBE6-45FE-B6BE-F1C01E6A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71850"/>
            <a:ext cx="2200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rPr>
              <a:t>SQL、会话与锁分析</a:t>
            </a:r>
          </a:p>
        </p:txBody>
      </p:sp>
      <p:sp>
        <p:nvSpPr>
          <p:cNvPr id="23" name="功能结果1">
            <a:extLst xmlns:a="http://schemas.openxmlformats.org/drawingml/2006/main">
              <a:ext uri="{FF2B5EF4-FFF2-40B4-BE49-F238E27FC236}">
                <a16:creationId xmlns:a16="http://schemas.microsoft.com/office/drawing/2014/main" id="{B7A928B5-06A0-49EF-B591-88F9BF20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695700"/>
            <a:ext cx="2200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rPr>
              <a:t>根因判断与处置建议</a:t>
            </a:r>
          </a:p>
        </p:txBody>
      </p:sp>
      <p:sp>
        <p:nvSpPr>
          <p:cNvPr id="24" name="功能分隔1">
            <a:extLst xmlns:a="http://schemas.openxmlformats.org/drawingml/2006/main">
              <a:ext uri="{FF2B5EF4-FFF2-40B4-BE49-F238E27FC236}">
                <a16:creationId xmlns:a16="http://schemas.microsoft.com/office/drawing/2014/main" id="{8C7F5864-EC5D-46C1-9271-8819A64A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067050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7E2ED"/>
            </a:solidFill>
            <a:prstDash val="solid"/>
          </a:ln>
        </p:spPr>
      </p:sp>
      <p:sp>
        <p:nvSpPr>
          <p:cNvPr id="25" name="功能2">
            <a:extLst xmlns:a="http://schemas.openxmlformats.org/drawingml/2006/main">
              <a:ext uri="{FF2B5EF4-FFF2-40B4-BE49-F238E27FC236}">
                <a16:creationId xmlns:a16="http://schemas.microsoft.com/office/drawing/2014/main" id="{E780D143-A115-4E78-A5B2-F401A614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43225"/>
            <a:ext cx="2200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rPr>
              <a:t>自动巡检</a:t>
            </a:r>
          </a:p>
        </p:txBody>
      </p:sp>
      <p:sp>
        <p:nvSpPr>
          <p:cNvPr id="26" name="功能描述2">
            <a:extLst xmlns:a="http://schemas.openxmlformats.org/drawingml/2006/main">
              <a:ext uri="{FF2B5EF4-FFF2-40B4-BE49-F238E27FC236}">
                <a16:creationId xmlns:a16="http://schemas.microsoft.com/office/drawing/2014/main" id="{E0F540EE-C22D-4F86-B246-897CD508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71850"/>
            <a:ext cx="2200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rPr>
              <a:t>定时与事件触发</a:t>
            </a:r>
          </a:p>
        </p:txBody>
      </p:sp>
      <p:sp>
        <p:nvSpPr>
          <p:cNvPr id="27" name="功能结果2">
            <a:extLst xmlns:a="http://schemas.openxmlformats.org/drawingml/2006/main">
              <a:ext uri="{FF2B5EF4-FFF2-40B4-BE49-F238E27FC236}">
                <a16:creationId xmlns:a16="http://schemas.microsoft.com/office/drawing/2014/main" id="{62C4D097-24DB-4E5A-87DA-0F3F794E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95700"/>
            <a:ext cx="2200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rPr>
              <a:t>结构化巡检报告</a:t>
            </a:r>
          </a:p>
        </p:txBody>
      </p:sp>
      <p:sp>
        <p:nvSpPr>
          <p:cNvPr id="28" name="功能分隔2">
            <a:extLst xmlns:a="http://schemas.openxmlformats.org/drawingml/2006/main">
              <a:ext uri="{FF2B5EF4-FFF2-40B4-BE49-F238E27FC236}">
                <a16:creationId xmlns:a16="http://schemas.microsoft.com/office/drawing/2014/main" id="{DCC38C75-B27A-416E-874D-CAA904F6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67050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7E2ED"/>
            </a:solidFill>
            <a:prstDash val="solid"/>
          </a:ln>
        </p:spPr>
      </p:sp>
      <p:sp>
        <p:nvSpPr>
          <p:cNvPr id="29" name="功能3">
            <a:extLst xmlns:a="http://schemas.openxmlformats.org/drawingml/2006/main">
              <a:ext uri="{FF2B5EF4-FFF2-40B4-BE49-F238E27FC236}">
                <a16:creationId xmlns:a16="http://schemas.microsoft.com/office/drawing/2014/main" id="{3E6665EA-EECF-4753-90DB-6D1CF60E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943225"/>
            <a:ext cx="2200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rPr>
              <a:t>告警管理</a:t>
            </a:r>
          </a:p>
        </p:txBody>
      </p:sp>
      <p:sp>
        <p:nvSpPr>
          <p:cNvPr id="30" name="功能描述3">
            <a:extLst xmlns:a="http://schemas.openxmlformats.org/drawingml/2006/main">
              <a:ext uri="{FF2B5EF4-FFF2-40B4-BE49-F238E27FC236}">
                <a16:creationId xmlns:a16="http://schemas.microsoft.com/office/drawing/2014/main" id="{3C33CB5D-CE10-45AB-BDD5-B0702094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71850"/>
            <a:ext cx="2200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rPr>
              <a:t>阈值与 AI 判警</a:t>
            </a:r>
          </a:p>
        </p:txBody>
      </p:sp>
      <p:sp>
        <p:nvSpPr>
          <p:cNvPr id="31" name="功能结果3">
            <a:extLst xmlns:a="http://schemas.openxmlformats.org/drawingml/2006/main">
              <a:ext uri="{FF2B5EF4-FFF2-40B4-BE49-F238E27FC236}">
                <a16:creationId xmlns:a16="http://schemas.microsoft.com/office/drawing/2014/main" id="{4327FB46-848D-48D9-8C9A-5079B549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695700"/>
            <a:ext cx="2200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rPr>
              <a:t>去重、恢复与通知</a:t>
            </a:r>
          </a:p>
        </p:txBody>
      </p:sp>
      <p:sp>
        <p:nvSpPr>
          <p:cNvPr id="32" name="功能分隔3">
            <a:extLst xmlns:a="http://schemas.openxmlformats.org/drawingml/2006/main">
              <a:ext uri="{FF2B5EF4-FFF2-40B4-BE49-F238E27FC236}">
                <a16:creationId xmlns:a16="http://schemas.microsoft.com/office/drawing/2014/main" id="{FAA9F600-365B-4C63-89D0-DD9E7B64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075" y="3067050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7E2ED"/>
            </a:solidFill>
            <a:prstDash val="solid"/>
          </a:ln>
        </p:spPr>
      </p:sp>
      <p:sp>
        <p:nvSpPr>
          <p:cNvPr id="33" name="功能4">
            <a:extLst xmlns:a="http://schemas.openxmlformats.org/drawingml/2006/main">
              <a:ext uri="{FF2B5EF4-FFF2-40B4-BE49-F238E27FC236}">
                <a16:creationId xmlns:a16="http://schemas.microsoft.com/office/drawing/2014/main" id="{7B4B956A-632C-4842-A337-6E5B63D5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943225"/>
            <a:ext cx="2200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167C5"/>
                </a:solidFill>
                <a:latin typeface="Hiragino Sans GB"/>
                <a:ea typeface="Hiragino Sans GB"/>
                <a:cs typeface="Hiragino Sans GB"/>
              </a:rPr>
              <a:t>知识库</a:t>
            </a:r>
          </a:p>
        </p:txBody>
      </p:sp>
      <p:sp>
        <p:nvSpPr>
          <p:cNvPr id="34" name="功能描述4">
            <a:extLst xmlns:a="http://schemas.openxmlformats.org/drawingml/2006/main">
              <a:ext uri="{FF2B5EF4-FFF2-40B4-BE49-F238E27FC236}">
                <a16:creationId xmlns:a16="http://schemas.microsoft.com/office/drawing/2014/main" id="{2C239206-7CDE-4A97-B979-83B39E9C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371850"/>
            <a:ext cx="2200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rPr>
              <a:t>文档检索与上下文</a:t>
            </a:r>
          </a:p>
        </p:txBody>
      </p:sp>
      <p:sp>
        <p:nvSpPr>
          <p:cNvPr id="35" name="功能结果4">
            <a:extLst xmlns:a="http://schemas.openxmlformats.org/drawingml/2006/main">
              <a:ext uri="{FF2B5EF4-FFF2-40B4-BE49-F238E27FC236}">
                <a16:creationId xmlns:a16="http://schemas.microsoft.com/office/drawing/2014/main" id="{D874B3C7-83A5-456B-960D-3290B6F0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695700"/>
            <a:ext cx="2200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rPr>
              <a:t>运维经验复用</a:t>
            </a:r>
          </a:p>
        </p:txBody>
      </p:sp>
      <p:sp>
        <p:nvSpPr>
          <p:cNvPr id="36" name="AI 能力引擎层">
            <a:extLst xmlns:a="http://schemas.openxmlformats.org/drawingml/2006/main">
              <a:ext uri="{FF2B5EF4-FFF2-40B4-BE49-F238E27FC236}">
                <a16:creationId xmlns:a16="http://schemas.microsoft.com/office/drawing/2014/main" id="{C3588F48-47FA-4926-B49D-2560DC53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76725"/>
            <a:ext cx="14135100" cy="153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AI 能力引擎标签">
            <a:extLst xmlns:a="http://schemas.openxmlformats.org/drawingml/2006/main">
              <a:ext uri="{FF2B5EF4-FFF2-40B4-BE49-F238E27FC236}">
                <a16:creationId xmlns:a16="http://schemas.microsoft.com/office/drawing/2014/main" id="{FBE4EC04-D870-4384-8295-63446EB2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67225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AI 能力引擎</a:t>
            </a:r>
          </a:p>
        </p:txBody>
      </p:sp>
      <p:sp>
        <p:nvSpPr>
          <p:cNvPr id="38" name="AI 能力引擎说明">
            <a:extLst xmlns:a="http://schemas.openxmlformats.org/drawingml/2006/main">
              <a:ext uri="{FF2B5EF4-FFF2-40B4-BE49-F238E27FC236}">
                <a16:creationId xmlns:a16="http://schemas.microsoft.com/office/drawing/2014/main" id="{D3559E66-1D93-4B8C-B40D-0F11077B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29175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B7D0E8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B7D0E8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B7D0E8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B7D0E8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B7D0E8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B7D0E8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B7D0E8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B7D0E8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B7D0E8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B7D0E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B7D0E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B7D0E8"/>
                </a:solidFill>
                <a:latin typeface="Hiragino Sans GB"/>
                <a:ea typeface="Hiragino Sans GB"/>
                <a:cs typeface="Hiragino Sans GB"/>
              </a:rPr>
              <a:t>AI Agent 编排</a:t>
            </a:r>
          </a:p>
        </p:txBody>
      </p:sp>
      <p:sp>
        <p:nvSpPr>
          <p:cNvPr id="39" name="AI 能力引擎分隔">
            <a:extLst xmlns:a="http://schemas.openxmlformats.org/drawingml/2006/main">
              <a:ext uri="{FF2B5EF4-FFF2-40B4-BE49-F238E27FC236}">
                <a16:creationId xmlns:a16="http://schemas.microsoft.com/office/drawing/2014/main" id="{B36092B2-95D9-4755-BE97-8A9FE447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467225"/>
            <a:ext cx="0" cy="1152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D5A76"/>
            </a:solidFill>
            <a:prstDash val="solid"/>
          </a:ln>
        </p:spPr>
      </p:sp>
      <p:sp>
        <p:nvSpPr>
          <p:cNvPr id="40" name="Agent步骤0">
            <a:extLst xmlns:a="http://schemas.openxmlformats.org/drawingml/2006/main">
              <a:ext uri="{FF2B5EF4-FFF2-40B4-BE49-F238E27FC236}">
                <a16:creationId xmlns:a16="http://schemas.microsoft.com/office/drawing/2014/main" id="{61AE0EB8-8FEC-4ACC-9767-D8600D08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4767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意图识别</a:t>
            </a:r>
          </a:p>
        </p:txBody>
      </p:sp>
      <p:sp>
        <p:nvSpPr>
          <p:cNvPr id="41" name="Agent步骤1">
            <a:extLst xmlns:a="http://schemas.openxmlformats.org/drawingml/2006/main">
              <a:ext uri="{FF2B5EF4-FFF2-40B4-BE49-F238E27FC236}">
                <a16:creationId xmlns:a16="http://schemas.microsoft.com/office/drawing/2014/main" id="{BDBC03FC-8696-4810-8B08-A5153D7C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4767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上下文构建</a:t>
            </a:r>
          </a:p>
        </p:txBody>
      </p:sp>
      <p:sp>
        <p:nvSpPr>
          <p:cNvPr id="42" name="Agent步骤2">
            <a:extLst xmlns:a="http://schemas.openxmlformats.org/drawingml/2006/main">
              <a:ext uri="{FF2B5EF4-FFF2-40B4-BE49-F238E27FC236}">
                <a16:creationId xmlns:a16="http://schemas.microsoft.com/office/drawing/2014/main" id="{3C8D01DA-D1FD-4E9D-8F7B-56828043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4767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技能调用</a:t>
            </a:r>
          </a:p>
        </p:txBody>
      </p:sp>
      <p:sp>
        <p:nvSpPr>
          <p:cNvPr id="43" name="Agent步骤3">
            <a:extLst xmlns:a="http://schemas.openxmlformats.org/drawingml/2006/main">
              <a:ext uri="{FF2B5EF4-FFF2-40B4-BE49-F238E27FC236}">
                <a16:creationId xmlns:a16="http://schemas.microsoft.com/office/drawing/2014/main" id="{D55F87FA-4FCD-4760-BA99-36240B23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44767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证据分析</a:t>
            </a:r>
          </a:p>
        </p:txBody>
      </p:sp>
      <p:sp>
        <p:nvSpPr>
          <p:cNvPr id="47" name="AI引擎内部层线">
            <a:extLst xmlns:a="http://schemas.openxmlformats.org/drawingml/2006/main">
              <a:ext uri="{FF2B5EF4-FFF2-40B4-BE49-F238E27FC236}">
                <a16:creationId xmlns:a16="http://schemas.microsoft.com/office/drawing/2014/main" id="{DEABA71B-0677-485C-BA29-6D4FE31C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7682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D5A76"/>
            </a:solidFill>
            <a:prstDash val="solid"/>
          </a:ln>
        </p:spPr>
      </p:sp>
      <p:sp>
        <p:nvSpPr>
          <p:cNvPr id="48" name="技能支撑">
            <a:extLst xmlns:a="http://schemas.openxmlformats.org/drawingml/2006/main">
              <a:ext uri="{FF2B5EF4-FFF2-40B4-BE49-F238E27FC236}">
                <a16:creationId xmlns:a16="http://schemas.microsoft.com/office/drawing/2014/main" id="{DDA308C8-5BC8-45DF-8FC4-6AC3D059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267325"/>
            <a:ext cx="3219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C7DDF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C7DDF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C7DDF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C7DDF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C7DDF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C7DDF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C7DDF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C7DDF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C7DDF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C7DD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C7DD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C7DDF0"/>
                </a:solidFill>
                <a:latin typeface="Hiragino Sans GB"/>
                <a:ea typeface="Hiragino Sans GB"/>
                <a:cs typeface="Hiragino Sans GB"/>
              </a:rPr>
              <a:t>YAML 技能系统</a:t>
            </a:r>
          </a:p>
        </p:txBody>
      </p:sp>
      <p:sp>
        <p:nvSpPr>
          <p:cNvPr id="49" name="知识支撑">
            <a:extLst xmlns:a="http://schemas.openxmlformats.org/drawingml/2006/main">
              <a:ext uri="{FF2B5EF4-FFF2-40B4-BE49-F238E27FC236}">
                <a16:creationId xmlns:a16="http://schemas.microsoft.com/office/drawing/2014/main" id="{C16D55F7-630E-4AC5-92E8-B0709EAD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267325"/>
            <a:ext cx="390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C7DDF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C7DDF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C7DDF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C7DDF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C7DDF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C7DDF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C7DDF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C7DDF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C7DDF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C7DD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C7DD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C7DDF0"/>
                </a:solidFill>
                <a:latin typeface="Hiragino Sans GB"/>
                <a:ea typeface="Hiragino Sans GB"/>
                <a:cs typeface="Hiragino Sans GB"/>
              </a:rPr>
              <a:t>实例、指标与知识上下文</a:t>
            </a:r>
          </a:p>
        </p:txBody>
      </p:sp>
      <p:sp>
        <p:nvSpPr>
          <p:cNvPr id="50" name="模型支撑">
            <a:extLst xmlns:a="http://schemas.openxmlformats.org/drawingml/2006/main">
              <a:ext uri="{FF2B5EF4-FFF2-40B4-BE49-F238E27FC236}">
                <a16:creationId xmlns:a16="http://schemas.microsoft.com/office/drawing/2014/main" id="{56CFD7CF-83A5-4987-B8BA-186D9EA5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267325"/>
            <a:ext cx="3952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C7DDF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C7DDF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C7DDF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C7DDF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C7DDF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C7DDF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C7DDF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C7DDF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C7DDF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C7DD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C7DD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C7DDF0"/>
                </a:solidFill>
                <a:latin typeface="Hiragino Sans GB"/>
                <a:ea typeface="Hiragino Sans GB"/>
                <a:cs typeface="Hiragino Sans GB"/>
              </a:rPr>
              <a:t>OpenAI / Anthropic 兼容接口</a:t>
            </a:r>
          </a:p>
        </p:txBody>
      </p:sp>
      <p:sp>
        <p:nvSpPr>
          <p:cNvPr id="51" name="采集与接入层">
            <a:extLst xmlns:a="http://schemas.openxmlformats.org/drawingml/2006/main">
              <a:ext uri="{FF2B5EF4-FFF2-40B4-BE49-F238E27FC236}">
                <a16:creationId xmlns:a16="http://schemas.microsoft.com/office/drawing/2014/main" id="{38D98593-836A-4997-9E10-E2F50B71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41351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采集与接入标签">
            <a:extLst xmlns:a="http://schemas.openxmlformats.org/drawingml/2006/main">
              <a:ext uri="{FF2B5EF4-FFF2-40B4-BE49-F238E27FC236}">
                <a16:creationId xmlns:a16="http://schemas.microsoft.com/office/drawing/2014/main" id="{B1850C68-E018-4261-96E9-02D08FC6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722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rPr>
              <a:t>采集与接入</a:t>
            </a:r>
          </a:p>
        </p:txBody>
      </p:sp>
      <p:sp>
        <p:nvSpPr>
          <p:cNvPr id="53" name="采集与接入说明">
            <a:extLst xmlns:a="http://schemas.openxmlformats.org/drawingml/2006/main">
              <a:ext uri="{FF2B5EF4-FFF2-40B4-BE49-F238E27FC236}">
                <a16:creationId xmlns:a16="http://schemas.microsoft.com/office/drawing/2014/main" id="{6D455A88-95E7-47AC-A184-DDF6CC39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53415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rPr>
              <a:t>统一资源连接</a:t>
            </a:r>
          </a:p>
        </p:txBody>
      </p:sp>
      <p:sp>
        <p:nvSpPr>
          <p:cNvPr id="54" name="采集与接入分隔">
            <a:extLst xmlns:a="http://schemas.openxmlformats.org/drawingml/2006/main">
              <a:ext uri="{FF2B5EF4-FFF2-40B4-BE49-F238E27FC236}">
                <a16:creationId xmlns:a16="http://schemas.microsoft.com/office/drawing/2014/main" id="{5FB8BE52-B5BB-4D1B-B106-A46A11B3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6172200"/>
            <a:ext cx="0" cy="904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7E2ED"/>
            </a:solidFill>
            <a:prstDash val="solid"/>
          </a:ln>
        </p:spPr>
      </p:sp>
      <p:sp>
        <p:nvSpPr>
          <p:cNvPr id="55" name="数据库连接">
            <a:extLst xmlns:a="http://schemas.openxmlformats.org/drawingml/2006/main">
              <a:ext uri="{FF2B5EF4-FFF2-40B4-BE49-F238E27FC236}">
                <a16:creationId xmlns:a16="http://schemas.microsoft.com/office/drawing/2014/main" id="{FC5DB48B-F2A6-4568-A6A4-D4DF95FE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1245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rPr>
              <a:t>数据库连接器</a:t>
            </a:r>
          </a:p>
        </p:txBody>
      </p:sp>
      <p:sp>
        <p:nvSpPr>
          <p:cNvPr id="56" name="数据库资源第一行">
            <a:extLst xmlns:a="http://schemas.openxmlformats.org/drawingml/2006/main">
              <a:ext uri="{FF2B5EF4-FFF2-40B4-BE49-F238E27FC236}">
                <a16:creationId xmlns:a16="http://schemas.microsoft.com/office/drawing/2014/main" id="{4BEBD0A2-47DE-437F-9877-F3014417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24625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rPr>
              <a:t>MySQL、PostgreSQL、Oracle、SQL Server</a:t>
            </a:r>
          </a:p>
        </p:txBody>
      </p:sp>
      <p:sp>
        <p:nvSpPr>
          <p:cNvPr id="57" name="数据库资源第二行">
            <a:extLst xmlns:a="http://schemas.openxmlformats.org/drawingml/2006/main">
              <a:ext uri="{FF2B5EF4-FFF2-40B4-BE49-F238E27FC236}">
                <a16:creationId xmlns:a16="http://schemas.microsoft.com/office/drawing/2014/main" id="{2152298D-C5DB-43EA-B945-FC630420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886575"/>
            <a:ext cx="714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rPr>
              <a:t>openGauss、OceanBase MySQL、SAP HANA</a:t>
            </a:r>
          </a:p>
        </p:txBody>
      </p:sp>
      <p:sp>
        <p:nvSpPr>
          <p:cNvPr id="58" name="数据库主机分隔">
            <a:extLst xmlns:a="http://schemas.openxmlformats.org/drawingml/2006/main">
              <a:ext uri="{FF2B5EF4-FFF2-40B4-BE49-F238E27FC236}">
                <a16:creationId xmlns:a16="http://schemas.microsoft.com/office/drawing/2014/main" id="{2E6F65DD-F8D9-48CC-A872-A2A7799F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91250"/>
            <a:ext cx="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7E2ED"/>
            </a:solidFill>
            <a:prstDash val="solid"/>
          </a:ln>
        </p:spPr>
      </p:sp>
      <p:sp>
        <p:nvSpPr>
          <p:cNvPr id="59" name="主机连接">
            <a:extLst xmlns:a="http://schemas.openxmlformats.org/drawingml/2006/main">
              <a:ext uri="{FF2B5EF4-FFF2-40B4-BE49-F238E27FC236}">
                <a16:creationId xmlns:a16="http://schemas.microsoft.com/office/drawing/2014/main" id="{A7DF3A7F-9FD5-4DC0-9588-7CD0AFD3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245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rPr>
              <a:t>SSH 主机采集</a:t>
            </a:r>
          </a:p>
        </p:txBody>
      </p:sp>
      <p:sp>
        <p:nvSpPr>
          <p:cNvPr id="60" name="主机资源">
            <a:extLst xmlns:a="http://schemas.openxmlformats.org/drawingml/2006/main">
              <a:ext uri="{FF2B5EF4-FFF2-40B4-BE49-F238E27FC236}">
                <a16:creationId xmlns:a16="http://schemas.microsoft.com/office/drawing/2014/main" id="{489DA85B-37EC-4F0E-8512-A780E157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524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rPr>
              <a:t>CPU、内存</a:t>
            </a:r>
          </a:p>
        </p:txBody>
      </p:sp>
      <p:sp>
        <p:nvSpPr>
          <p:cNvPr id="61" name="主机资源第二行">
            <a:extLst xmlns:a="http://schemas.openxmlformats.org/drawingml/2006/main">
              <a:ext uri="{FF2B5EF4-FFF2-40B4-BE49-F238E27FC236}">
                <a16:creationId xmlns:a16="http://schemas.microsoft.com/office/drawing/2014/main" id="{AFEE3343-19BF-4828-B58F-7448E5B3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886575"/>
            <a:ext cx="2095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rPr>
              <a:t>磁盘、网络</a:t>
            </a:r>
          </a:p>
        </p:txBody>
      </p:sp>
      <p:sp>
        <p:nvSpPr>
          <p:cNvPr id="62" name="主机云分隔">
            <a:extLst xmlns:a="http://schemas.openxmlformats.org/drawingml/2006/main">
              <a:ext uri="{FF2B5EF4-FFF2-40B4-BE49-F238E27FC236}">
                <a16:creationId xmlns:a16="http://schemas.microsoft.com/office/drawing/2014/main" id="{5CC552B0-4922-4A39-A8A0-47C8C67D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1525" y="6191250"/>
            <a:ext cx="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7E2ED"/>
            </a:solidFill>
            <a:prstDash val="solid"/>
          </a:ln>
        </p:spPr>
      </p:sp>
      <p:sp>
        <p:nvSpPr>
          <p:cNvPr id="63" name="云监控接入">
            <a:extLst xmlns:a="http://schemas.openxmlformats.org/drawingml/2006/main">
              <a:ext uri="{FF2B5EF4-FFF2-40B4-BE49-F238E27FC236}">
                <a16:creationId xmlns:a16="http://schemas.microsoft.com/office/drawing/2014/main" id="{9EEB5F9E-5101-4D76-8E78-B7BB6DE9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6124575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rPr>
              <a:t>云监控集成</a:t>
            </a:r>
          </a:p>
        </p:txBody>
      </p:sp>
      <p:sp>
        <p:nvSpPr>
          <p:cNvPr id="64" name="云厂商一">
            <a:extLst xmlns:a="http://schemas.openxmlformats.org/drawingml/2006/main">
              <a:ext uri="{FF2B5EF4-FFF2-40B4-BE49-F238E27FC236}">
                <a16:creationId xmlns:a16="http://schemas.microsoft.com/office/drawing/2014/main" id="{B37E4D53-3A09-48F9-8E62-580D2D91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6524625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rPr>
              <a:t>阿里云、腾讯云</a:t>
            </a:r>
          </a:p>
        </p:txBody>
      </p:sp>
      <p:sp>
        <p:nvSpPr>
          <p:cNvPr id="65" name="云厂商二">
            <a:extLst xmlns:a="http://schemas.openxmlformats.org/drawingml/2006/main">
              <a:ext uri="{FF2B5EF4-FFF2-40B4-BE49-F238E27FC236}">
                <a16:creationId xmlns:a16="http://schemas.microsoft.com/office/drawing/2014/main" id="{99E33B56-CE0F-4876-BA5A-D4B57995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6886575"/>
            <a:ext cx="2095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rPr>
              <a:t>华为云</a:t>
            </a:r>
          </a:p>
        </p:txBody>
      </p:sp>
      <p:sp>
        <p:nvSpPr>
          <p:cNvPr id="66" name="平台支撑层">
            <a:extLst xmlns:a="http://schemas.openxmlformats.org/drawingml/2006/main">
              <a:ext uri="{FF2B5EF4-FFF2-40B4-BE49-F238E27FC236}">
                <a16:creationId xmlns:a16="http://schemas.microsoft.com/office/drawing/2014/main" id="{CFEBAFB6-D8AC-4934-A5A4-08D21BAE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39025"/>
            <a:ext cx="141351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平台支撑标签">
            <a:extLst xmlns:a="http://schemas.openxmlformats.org/drawingml/2006/main">
              <a:ext uri="{FF2B5EF4-FFF2-40B4-BE49-F238E27FC236}">
                <a16:creationId xmlns:a16="http://schemas.microsoft.com/office/drawing/2014/main" id="{5376848F-551E-4592-96A0-9FCE6C69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629525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rPr>
              <a:t>平台支撑</a:t>
            </a:r>
          </a:p>
        </p:txBody>
      </p:sp>
      <p:sp>
        <p:nvSpPr>
          <p:cNvPr id="68" name="平台支撑说明">
            <a:extLst xmlns:a="http://schemas.openxmlformats.org/drawingml/2006/main">
              <a:ext uri="{FF2B5EF4-FFF2-40B4-BE49-F238E27FC236}">
                <a16:creationId xmlns:a16="http://schemas.microsoft.com/office/drawing/2014/main" id="{5B5E1A4B-BE59-425E-B60F-44EE391C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991475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rPr>
              <a:t/>
            </a:r>
          </a:p>
        </p:txBody>
      </p:sp>
      <p:sp>
        <p:nvSpPr>
          <p:cNvPr id="69" name="平台支撑分隔">
            <a:extLst xmlns:a="http://schemas.openxmlformats.org/drawingml/2006/main">
              <a:ext uri="{FF2B5EF4-FFF2-40B4-BE49-F238E27FC236}">
                <a16:creationId xmlns:a16="http://schemas.microsoft.com/office/drawing/2014/main" id="{3C19FC60-7AA2-4C8E-80E7-A7301A02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7629525"/>
            <a:ext cx="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7E2ED"/>
            </a:solidFill>
            <a:prstDash val="solid"/>
          </a:ln>
        </p:spPr>
      </p:sp>
      <p:sp>
        <p:nvSpPr>
          <p:cNvPr id="70" name="服务框架">
            <a:extLst xmlns:a="http://schemas.openxmlformats.org/drawingml/2006/main">
              <a:ext uri="{FF2B5EF4-FFF2-40B4-BE49-F238E27FC236}">
                <a16:creationId xmlns:a16="http://schemas.microsoft.com/office/drawing/2014/main" id="{867EDBC0-2902-41FA-92B4-1D33DDE7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6390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rPr>
              <a:t>FastAPI 服务</a:t>
            </a:r>
          </a:p>
        </p:txBody>
      </p:sp>
      <p:sp>
        <p:nvSpPr>
          <p:cNvPr id="71" name="调度">
            <a:extLst xmlns:a="http://schemas.openxmlformats.org/drawingml/2006/main">
              <a:ext uri="{FF2B5EF4-FFF2-40B4-BE49-F238E27FC236}">
                <a16:creationId xmlns:a16="http://schemas.microsoft.com/office/drawing/2014/main" id="{DE772A03-4EC8-4E6C-AD76-B9202C45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76390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rPr>
              <a:t>任务调度</a:t>
            </a:r>
          </a:p>
        </p:txBody>
      </p:sp>
      <p:sp>
        <p:nvSpPr>
          <p:cNvPr id="72" name="权限">
            <a:extLst xmlns:a="http://schemas.openxmlformats.org/drawingml/2006/main">
              <a:ext uri="{FF2B5EF4-FFF2-40B4-BE49-F238E27FC236}">
                <a16:creationId xmlns:a16="http://schemas.microsoft.com/office/drawing/2014/main" id="{8A7DD65D-583A-466B-83B4-020202ED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76390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rPr>
              <a:t>用户与技能权限</a:t>
            </a:r>
          </a:p>
        </p:txBody>
      </p:sp>
      <p:sp>
        <p:nvSpPr>
          <p:cNvPr id="73" name="持久化">
            <a:extLst xmlns:a="http://schemas.openxmlformats.org/drawingml/2006/main">
              <a:ext uri="{FF2B5EF4-FFF2-40B4-BE49-F238E27FC236}">
                <a16:creationId xmlns:a16="http://schemas.microsoft.com/office/drawing/2014/main" id="{5D56F527-CC60-4385-A63F-C315F43F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543800"/>
            <a:ext cx="464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42D48"/>
                </a:solidFill>
                <a:latin typeface="Hiragino Sans GB"/>
                <a:ea typeface="Hiragino Sans GB"/>
                <a:cs typeface="Hiragino Sans GB"/>
              </a:rPr>
              <a:t>PostgreSQL / 可选 TimescaleDB</a:t>
            </a:r>
          </a:p>
        </p:txBody>
      </p:sp>
      <p:sp>
        <p:nvSpPr>
          <p:cNvPr id="74" name="部署">
            <a:extLst xmlns:a="http://schemas.openxmlformats.org/drawingml/2006/main">
              <a:ext uri="{FF2B5EF4-FFF2-40B4-BE49-F238E27FC236}">
                <a16:creationId xmlns:a16="http://schemas.microsoft.com/office/drawing/2014/main" id="{7201DBB2-80FA-4F31-9105-DC242B8D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877175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86B80"/>
                </a:solidFill>
                <a:latin typeface="Hiragino Sans GB"/>
                <a:ea typeface="Hiragino Sans GB"/>
                <a:cs typeface="Hiragino Sans GB"/>
              </a:rPr>
              <a:t>源码或 Docker 部署</a:t>
            </a:r>
          </a:p>
        </p:txBody>
      </p:sp>
    </p:spTree>
    <p:extLst>
      <p:ext uri="{BB962C8B-B14F-4D97-AF65-F5344CB8AC3E}">
        <p14:creationId xmlns:p14="http://schemas.microsoft.com/office/powerpoint/2010/main" val="2186636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2026-10-27T01:33:55.8620000Z</dcterms:created>
  <dcterms:modified xsi:type="dcterms:W3CDTF">2026-10-27T01:33:55.8620000Z</dcterms:modified>
</coreProperties>
</file>